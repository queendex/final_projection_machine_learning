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2" r:id="rId1"/>
  </p:sldMasterIdLst>
  <p:sldIdLst>
    <p:sldId id="266" r:id="rId2"/>
    <p:sldId id="256" r:id="rId3"/>
    <p:sldId id="257" r:id="rId4"/>
    <p:sldId id="258" r:id="rId5"/>
    <p:sldId id="259" r:id="rId6"/>
    <p:sldId id="260" r:id="rId7"/>
    <p:sldId id="263" r:id="rId8"/>
    <p:sldId id="264" r:id="rId9"/>
    <p:sldId id="261" r:id="rId10"/>
    <p:sldId id="265" r:id="rId11"/>
    <p:sldId id="262"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8" d="100"/>
          <a:sy n="68" d="100"/>
        </p:scale>
        <p:origin x="1446" y="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011450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BCAD085-E8A6-8845-BD4E-CB4CCA059FC4}"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177033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52982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1418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44908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BCAD085-E8A6-8845-BD4E-CB4CCA059FC4}" type="datetimeFigureOut">
              <a:rPr lang="en-US" smtClean="0"/>
              <a:t>12/4/2025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31178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BCAD085-E8A6-8845-BD4E-CB4CCA059FC4}" type="datetimeFigureOut">
              <a:rPr lang="en-US" smtClean="0"/>
              <a:t>12/4/2025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05458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BCAD085-E8A6-8845-BD4E-CB4CCA059FC4}" type="datetimeFigureOut">
              <a:rPr lang="en-US" smtClean="0"/>
              <a:t>12/4/2025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16402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433942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89381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276542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600368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362578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12/4/2025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122157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12/4/2025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348822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30226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64107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BCAD085-E8A6-8845-BD4E-CB4CCA059FC4}" type="datetimeFigureOut">
              <a:rPr lang="en-US" smtClean="0"/>
              <a:t>12/4/2025</a:t>
            </a:fld>
            <a:endParaRPr lang="en-U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959118846"/>
      </p:ext>
    </p:extLst>
  </p:cSld>
  <p:clrMap bg1="dk1" tx1="lt1" bg2="dk2" tx2="lt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 id="2147483806" r:id="rId14"/>
    <p:sldLayoutId id="2147483807" r:id="rId15"/>
    <p:sldLayoutId id="2147483808" r:id="rId16"/>
    <p:sldLayoutId id="2147483809"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dashHorz">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3743"/>
            <a:ext cx="9115865" cy="1899139"/>
          </a:xfrm>
          <a:blipFill>
            <a:blip r:embed="rId2"/>
            <a:tile tx="0" ty="0" sx="100000" sy="100000" flip="none" algn="tl"/>
          </a:blipFill>
        </p:spPr>
        <p:txBody>
          <a:bodyPr/>
          <a:lstStyle/>
          <a:p>
            <a:r>
              <a:rPr lang="en-GB" sz="6000" dirty="0">
                <a:solidFill>
                  <a:schemeClr val="bg1"/>
                </a:solidFill>
              </a:rPr>
              <a:t>Machine Learning for Business Insights</a:t>
            </a:r>
            <a:endParaRPr sz="6000" dirty="0">
              <a:solidFill>
                <a:schemeClr val="bg1"/>
              </a:solidFill>
            </a:endParaRPr>
          </a:p>
        </p:txBody>
      </p:sp>
      <p:sp>
        <p:nvSpPr>
          <p:cNvPr id="3" name="Subtitle 2"/>
          <p:cNvSpPr>
            <a:spLocks noGrp="1"/>
          </p:cNvSpPr>
          <p:nvPr>
            <p:ph type="subTitle" idx="1"/>
          </p:nvPr>
        </p:nvSpPr>
        <p:spPr>
          <a:xfrm>
            <a:off x="0" y="4529796"/>
            <a:ext cx="9003323" cy="2324461"/>
          </a:xfrm>
          <a:pattFill prst="pct5">
            <a:fgClr>
              <a:schemeClr val="accent1"/>
            </a:fgClr>
            <a:bgClr>
              <a:schemeClr val="bg1"/>
            </a:bgClr>
          </a:pattFill>
        </p:spPr>
        <p:txBody>
          <a:bodyPr>
            <a:normAutofit fontScale="92500" lnSpcReduction="10000"/>
          </a:bodyPr>
          <a:lstStyle/>
          <a:p>
            <a:endParaRPr lang="en-GB" sz="3600" b="1" dirty="0">
              <a:highlight>
                <a:srgbClr val="800080"/>
              </a:highlight>
            </a:endParaRPr>
          </a:p>
          <a:p>
            <a:endParaRPr lang="en-GB" sz="3600" b="1" dirty="0">
              <a:highlight>
                <a:srgbClr val="800080"/>
              </a:highlight>
            </a:endParaRPr>
          </a:p>
          <a:p>
            <a:r>
              <a:rPr lang="en-GB" sz="3600" b="1" dirty="0">
                <a:highlight>
                  <a:srgbClr val="800080"/>
                </a:highlight>
              </a:rPr>
              <a:t>Presented By </a:t>
            </a:r>
          </a:p>
          <a:p>
            <a:r>
              <a:rPr lang="en-GB" sz="3600" b="1" dirty="0" err="1">
                <a:highlight>
                  <a:srgbClr val="800080"/>
                </a:highlight>
              </a:rPr>
              <a:t>Ezeanochie</a:t>
            </a:r>
            <a:r>
              <a:rPr lang="en-GB" sz="3600" b="1" dirty="0">
                <a:highlight>
                  <a:srgbClr val="800080"/>
                </a:highlight>
              </a:rPr>
              <a:t> </a:t>
            </a:r>
            <a:r>
              <a:rPr lang="en-GB" sz="3600" b="1" dirty="0" err="1">
                <a:highlight>
                  <a:srgbClr val="800080"/>
                </a:highlight>
              </a:rPr>
              <a:t>chidera</a:t>
            </a:r>
            <a:r>
              <a:rPr lang="en-GB" sz="3600" b="1" dirty="0">
                <a:highlight>
                  <a:srgbClr val="800080"/>
                </a:highlight>
              </a:rPr>
              <a:t> </a:t>
            </a:r>
            <a:r>
              <a:rPr lang="en-GB" sz="3600" b="1" dirty="0" err="1">
                <a:highlight>
                  <a:srgbClr val="800080"/>
                </a:highlight>
              </a:rPr>
              <a:t>queeneth</a:t>
            </a:r>
            <a:endParaRPr sz="3600" b="1" dirty="0">
              <a:highlight>
                <a:srgbClr val="800080"/>
              </a:highlight>
            </a:endParaRPr>
          </a:p>
        </p:txBody>
      </p:sp>
    </p:spTree>
    <p:extLst>
      <p:ext uri="{BB962C8B-B14F-4D97-AF65-F5344CB8AC3E}">
        <p14:creationId xmlns:p14="http://schemas.microsoft.com/office/powerpoint/2010/main" val="10982356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dashHorz">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0" y="3743"/>
            <a:ext cx="9115865" cy="1899139"/>
          </a:xfrm>
          <a:blipFill>
            <a:blip r:embed="rId2"/>
            <a:tile tx="0" ty="0" sx="100000" sy="100000" flip="none" algn="tl"/>
          </a:blipFill>
        </p:spPr>
        <p:txBody>
          <a:bodyPr/>
          <a:lstStyle/>
          <a:p>
            <a:r>
              <a:rPr sz="6000" dirty="0">
                <a:solidFill>
                  <a:schemeClr val="bg1"/>
                </a:solidFill>
              </a:rPr>
              <a:t>Customer Segmentation Insights</a:t>
            </a:r>
            <a:r>
              <a:rPr lang="en-GB" sz="6000" dirty="0">
                <a:solidFill>
                  <a:schemeClr val="bg1"/>
                </a:solidFill>
              </a:rPr>
              <a:t> and prediction</a:t>
            </a:r>
            <a:endParaRPr sz="6000" dirty="0">
              <a:solidFill>
                <a:schemeClr val="bg1"/>
              </a:solidFill>
            </a:endParaRPr>
          </a:p>
        </p:txBody>
      </p:sp>
      <p:sp>
        <p:nvSpPr>
          <p:cNvPr id="3" name="Subtitle 2"/>
          <p:cNvSpPr>
            <a:spLocks noGrp="1"/>
          </p:cNvSpPr>
          <p:nvPr>
            <p:ph type="subTitle" idx="1"/>
          </p:nvPr>
        </p:nvSpPr>
        <p:spPr>
          <a:xfrm>
            <a:off x="0" y="4519472"/>
            <a:ext cx="9144000" cy="2310393"/>
          </a:xfrm>
          <a:pattFill prst="pct5">
            <a:fgClr>
              <a:schemeClr val="accent1"/>
            </a:fgClr>
            <a:bgClr>
              <a:schemeClr val="bg1"/>
            </a:bgClr>
          </a:pattFill>
        </p:spPr>
        <p:txBody>
          <a:bodyPr>
            <a:normAutofit/>
          </a:bodyPr>
          <a:lstStyle/>
          <a:p>
            <a:r>
              <a:rPr sz="3600" b="1" dirty="0">
                <a:highlight>
                  <a:srgbClr val="000000"/>
                </a:highlight>
              </a:rPr>
              <a:t>An analytical overview of customer behavior </a:t>
            </a:r>
            <a:r>
              <a:rPr lang="en-GB" sz="3600" b="1" dirty="0">
                <a:highlight>
                  <a:srgbClr val="000000"/>
                </a:highlight>
              </a:rPr>
              <a:t>, prediction </a:t>
            </a:r>
            <a:r>
              <a:rPr sz="3600" b="1" dirty="0">
                <a:highlight>
                  <a:srgbClr val="000000"/>
                </a:highlight>
              </a:rPr>
              <a:t>and</a:t>
            </a:r>
            <a:r>
              <a:rPr lang="en-GB" sz="3600" b="1" dirty="0">
                <a:highlight>
                  <a:srgbClr val="000000"/>
                </a:highlight>
              </a:rPr>
              <a:t> </a:t>
            </a:r>
            <a:r>
              <a:rPr sz="3600" b="1" dirty="0">
                <a:highlight>
                  <a:srgbClr val="000000"/>
                </a:highlight>
              </a:rPr>
              <a:t>actionable recommendations.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4710" y="126609"/>
            <a:ext cx="7182182" cy="773724"/>
          </a:xfrm>
        </p:spPr>
        <p:txBody>
          <a:bodyPr/>
          <a:lstStyle/>
          <a:p>
            <a:r>
              <a:rPr b="1" dirty="0">
                <a:highlight>
                  <a:srgbClr val="800080"/>
                </a:highlight>
              </a:rPr>
              <a:t>Overview of Analysis</a:t>
            </a:r>
          </a:p>
        </p:txBody>
      </p:sp>
      <p:sp>
        <p:nvSpPr>
          <p:cNvPr id="3" name="Content Placeholder 2"/>
          <p:cNvSpPr>
            <a:spLocks noGrp="1"/>
          </p:cNvSpPr>
          <p:nvPr>
            <p:ph idx="1"/>
          </p:nvPr>
        </p:nvSpPr>
        <p:spPr>
          <a:xfrm>
            <a:off x="309489" y="900333"/>
            <a:ext cx="8454683" cy="5348074"/>
          </a:xfrm>
        </p:spPr>
        <p:txBody>
          <a:bodyPr>
            <a:normAutofit lnSpcReduction="10000"/>
          </a:bodyPr>
          <a:lstStyle/>
          <a:p>
            <a:r>
              <a:rPr sz="2800" b="1" dirty="0">
                <a:solidFill>
                  <a:schemeClr val="bg1"/>
                </a:solidFill>
              </a:rPr>
              <a:t>This segmentation analysis identifies key customer groups based on income, spending habits, age, and loyalty.</a:t>
            </a:r>
          </a:p>
          <a:p>
            <a:endParaRPr sz="2800" b="1" dirty="0">
              <a:solidFill>
                <a:schemeClr val="bg1"/>
              </a:solidFill>
            </a:endParaRPr>
          </a:p>
          <a:p>
            <a:r>
              <a:rPr sz="2800" b="1" dirty="0">
                <a:solidFill>
                  <a:schemeClr val="bg1"/>
                </a:solidFill>
              </a:rPr>
              <a:t>The goal is to understand customer diversity, spending behavior, and develop targeted marketing strategies.</a:t>
            </a:r>
            <a:endParaRPr lang="en-GB" sz="2800" b="1" dirty="0">
              <a:solidFill>
                <a:schemeClr val="bg1"/>
              </a:solidFill>
            </a:endParaRPr>
          </a:p>
          <a:p>
            <a:endParaRPr lang="en-GB" sz="2800" b="1" dirty="0">
              <a:solidFill>
                <a:schemeClr val="bg1"/>
              </a:solidFill>
            </a:endParaRPr>
          </a:p>
          <a:p>
            <a:r>
              <a:rPr lang="en-GB" sz="2800" b="1" dirty="0">
                <a:solidFill>
                  <a:schemeClr val="bg1"/>
                </a:solidFill>
              </a:rPr>
              <a:t>Predicting Spending Score.</a:t>
            </a:r>
          </a:p>
          <a:p>
            <a:endParaRPr lang="en-GB" sz="2800" b="1" dirty="0">
              <a:solidFill>
                <a:schemeClr val="bg1"/>
              </a:solidFill>
            </a:endParaRPr>
          </a:p>
          <a:p>
            <a:r>
              <a:rPr lang="en-GB" sz="2800" b="1" dirty="0">
                <a:solidFill>
                  <a:schemeClr val="bg1"/>
                </a:solidFill>
              </a:rPr>
              <a:t>Predicting Spending Category</a:t>
            </a:r>
            <a:r>
              <a:rPr lang="en-GB" dirty="0"/>
              <a:t>.</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4710" y="0"/>
            <a:ext cx="7055380" cy="1099625"/>
          </a:xfrm>
        </p:spPr>
        <p:txBody>
          <a:bodyPr/>
          <a:lstStyle/>
          <a:p>
            <a:r>
              <a:rPr dirty="0">
                <a:highlight>
                  <a:srgbClr val="800080"/>
                </a:highlight>
              </a:rPr>
              <a:t>Customer Segments Overview</a:t>
            </a:r>
          </a:p>
        </p:txBody>
      </p:sp>
      <p:pic>
        <p:nvPicPr>
          <p:cNvPr id="3" name="Picture 2" descr="image.png"/>
          <p:cNvPicPr>
            <a:picLocks noChangeAspect="1"/>
          </p:cNvPicPr>
          <p:nvPr/>
        </p:nvPicPr>
        <p:blipFill>
          <a:blip r:embed="rId3"/>
          <a:stretch>
            <a:fillRect/>
          </a:stretch>
        </p:blipFill>
        <p:spPr>
          <a:xfrm>
            <a:off x="223453" y="1099625"/>
            <a:ext cx="8557690" cy="56059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3974" y="43544"/>
            <a:ext cx="7055380" cy="711199"/>
          </a:xfrm>
        </p:spPr>
        <p:txBody>
          <a:bodyPr/>
          <a:lstStyle/>
          <a:p>
            <a:r>
              <a:rPr dirty="0">
                <a:highlight>
                  <a:srgbClr val="800080"/>
                </a:highlight>
              </a:rPr>
              <a:t>Cluster Insights Summary</a:t>
            </a:r>
          </a:p>
        </p:txBody>
      </p:sp>
      <p:sp>
        <p:nvSpPr>
          <p:cNvPr id="3" name="Content Placeholder 2"/>
          <p:cNvSpPr>
            <a:spLocks noGrp="1"/>
          </p:cNvSpPr>
          <p:nvPr>
            <p:ph idx="1"/>
          </p:nvPr>
        </p:nvSpPr>
        <p:spPr>
          <a:xfrm>
            <a:off x="290670" y="1022410"/>
            <a:ext cx="8345330" cy="5792046"/>
          </a:xfrm>
        </p:spPr>
        <p:txBody>
          <a:bodyPr>
            <a:normAutofit/>
          </a:bodyPr>
          <a:lstStyle/>
          <a:p>
            <a:r>
              <a:rPr b="1" dirty="0">
                <a:solidFill>
                  <a:schemeClr val="bg1"/>
                </a:solidFill>
              </a:rPr>
              <a:t>1. **Active Buyers:** Young, average income, high spenders. Focus on promotions and loyalty.</a:t>
            </a:r>
            <a:r>
              <a:rPr lang="en-GB" b="1" dirty="0">
                <a:solidFill>
                  <a:schemeClr val="bg1"/>
                </a:solidFill>
              </a:rPr>
              <a:t>   Cluster 2</a:t>
            </a:r>
            <a:endParaRPr b="1" dirty="0">
              <a:solidFill>
                <a:schemeClr val="bg1"/>
              </a:solidFill>
            </a:endParaRPr>
          </a:p>
          <a:p>
            <a:endParaRPr b="1" dirty="0">
              <a:solidFill>
                <a:schemeClr val="bg1"/>
              </a:solidFill>
            </a:endParaRPr>
          </a:p>
          <a:p>
            <a:r>
              <a:rPr b="1" dirty="0">
                <a:solidFill>
                  <a:schemeClr val="bg1"/>
                </a:solidFill>
              </a:rPr>
              <a:t>2. **Wealthy Savers:** High income, low spenders. Emphasize value and premium offers.</a:t>
            </a:r>
            <a:r>
              <a:rPr lang="en-GB" b="1" dirty="0">
                <a:solidFill>
                  <a:schemeClr val="bg1"/>
                </a:solidFill>
              </a:rPr>
              <a:t>  Cluster 1</a:t>
            </a:r>
            <a:endParaRPr b="1" dirty="0">
              <a:solidFill>
                <a:schemeClr val="bg1"/>
              </a:solidFill>
            </a:endParaRPr>
          </a:p>
          <a:p>
            <a:endParaRPr b="1" dirty="0">
              <a:solidFill>
                <a:schemeClr val="bg1"/>
              </a:solidFill>
            </a:endParaRPr>
          </a:p>
          <a:p>
            <a:r>
              <a:rPr b="1" dirty="0">
                <a:solidFill>
                  <a:schemeClr val="bg1"/>
                </a:solidFill>
              </a:rPr>
              <a:t>3. **Loyal Wealthy Women:** High income, moderate spending, loyal. Maintain engagement.</a:t>
            </a:r>
            <a:r>
              <a:rPr lang="en-GB" b="1" dirty="0">
                <a:solidFill>
                  <a:schemeClr val="bg1"/>
                </a:solidFill>
              </a:rPr>
              <a:t> Cluster 3</a:t>
            </a:r>
            <a:endParaRPr b="1" dirty="0">
              <a:solidFill>
                <a:schemeClr val="bg1"/>
              </a:solidFill>
            </a:endParaRPr>
          </a:p>
          <a:p>
            <a:endParaRPr b="1" dirty="0">
              <a:solidFill>
                <a:schemeClr val="bg1"/>
              </a:solidFill>
            </a:endParaRPr>
          </a:p>
          <a:p>
            <a:r>
              <a:rPr b="1" dirty="0">
                <a:solidFill>
                  <a:schemeClr val="bg1"/>
                </a:solidFill>
              </a:rPr>
              <a:t>4. **Budget Shoppers:** Young, low income, moderate spenders. Provide affordable options.</a:t>
            </a:r>
            <a:r>
              <a:rPr lang="en-GB" b="1" dirty="0">
                <a:solidFill>
                  <a:schemeClr val="bg1"/>
                </a:solidFill>
              </a:rPr>
              <a:t>  Cluster 4</a:t>
            </a:r>
            <a:endParaRPr b="1" dirty="0">
              <a:solidFill>
                <a:schemeClr val="bg1"/>
              </a:solidFill>
            </a:endParaRPr>
          </a:p>
          <a:p>
            <a:endParaRPr b="1" dirty="0">
              <a:solidFill>
                <a:schemeClr val="bg1"/>
              </a:solidFill>
            </a:endParaRPr>
          </a:p>
          <a:p>
            <a:r>
              <a:rPr b="1" dirty="0">
                <a:solidFill>
                  <a:schemeClr val="bg1"/>
                </a:solidFill>
              </a:rPr>
              <a:t>5. **Low-Income Seniors:** Older, low income, low spenders. Offer health-oriented, affordable plans.</a:t>
            </a:r>
            <a:r>
              <a:rPr lang="en-GB" b="1" dirty="0">
                <a:solidFill>
                  <a:schemeClr val="bg1"/>
                </a:solidFill>
              </a:rPr>
              <a:t> Cluster 0</a:t>
            </a:r>
            <a:endParaRPr b="1"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4710" y="0"/>
            <a:ext cx="6975633" cy="957943"/>
          </a:xfrm>
        </p:spPr>
        <p:txBody>
          <a:bodyPr/>
          <a:lstStyle/>
          <a:p>
            <a:r>
              <a:rPr dirty="0">
                <a:highlight>
                  <a:srgbClr val="800080"/>
                </a:highlight>
              </a:rPr>
              <a:t>Feature Relationships</a:t>
            </a:r>
          </a:p>
        </p:txBody>
      </p:sp>
      <p:pic>
        <p:nvPicPr>
          <p:cNvPr id="3" name="Picture 2" descr="image.png"/>
          <p:cNvPicPr>
            <a:picLocks noChangeAspect="1"/>
          </p:cNvPicPr>
          <p:nvPr/>
        </p:nvPicPr>
        <p:blipFill>
          <a:blip r:embed="rId3"/>
          <a:stretch>
            <a:fillRect/>
          </a:stretch>
        </p:blipFill>
        <p:spPr>
          <a:xfrm>
            <a:off x="121852" y="957943"/>
            <a:ext cx="8818948" cy="573314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C3B75-46FD-49EE-B761-91A2483D114D}"/>
              </a:ext>
            </a:extLst>
          </p:cNvPr>
          <p:cNvSpPr>
            <a:spLocks noGrp="1"/>
          </p:cNvSpPr>
          <p:nvPr>
            <p:ph type="title"/>
          </p:nvPr>
        </p:nvSpPr>
        <p:spPr>
          <a:xfrm>
            <a:off x="14514" y="0"/>
            <a:ext cx="8360229" cy="1042254"/>
          </a:xfrm>
        </p:spPr>
        <p:txBody>
          <a:bodyPr/>
          <a:lstStyle/>
          <a:p>
            <a:r>
              <a:rPr lang="en-GB" sz="3600" b="1" dirty="0">
                <a:highlight>
                  <a:srgbClr val="800080"/>
                </a:highlight>
              </a:rPr>
              <a:t>Predicting Spending Score Overview</a:t>
            </a:r>
            <a:endParaRPr lang="en-NG" sz="3600" b="1" dirty="0">
              <a:highlight>
                <a:srgbClr val="800080"/>
              </a:highlight>
            </a:endParaRPr>
          </a:p>
        </p:txBody>
      </p:sp>
      <p:sp>
        <p:nvSpPr>
          <p:cNvPr id="3" name="Content Placeholder 2">
            <a:extLst>
              <a:ext uri="{FF2B5EF4-FFF2-40B4-BE49-F238E27FC236}">
                <a16:creationId xmlns:a16="http://schemas.microsoft.com/office/drawing/2014/main" id="{B008B66E-3556-4444-AA98-E31299116B2E}"/>
              </a:ext>
            </a:extLst>
          </p:cNvPr>
          <p:cNvSpPr>
            <a:spLocks noGrp="1"/>
          </p:cNvSpPr>
          <p:nvPr>
            <p:ph idx="1"/>
          </p:nvPr>
        </p:nvSpPr>
        <p:spPr>
          <a:xfrm>
            <a:off x="275771" y="740230"/>
            <a:ext cx="8592458" cy="5921828"/>
          </a:xfrm>
        </p:spPr>
        <p:txBody>
          <a:bodyPr>
            <a:noAutofit/>
          </a:bodyPr>
          <a:lstStyle/>
          <a:p>
            <a:r>
              <a:rPr lang="en-US" sz="2400" b="1" dirty="0">
                <a:solidFill>
                  <a:schemeClr val="bg1"/>
                </a:solidFill>
              </a:rPr>
              <a:t>Predict a customer's spending propensity as a continuous value.</a:t>
            </a:r>
          </a:p>
          <a:p>
            <a:r>
              <a:rPr lang="en-US" sz="2400" b="1" dirty="0">
                <a:solidFill>
                  <a:schemeClr val="bg1"/>
                </a:solidFill>
              </a:rPr>
              <a:t>Predictive Objective: Predict a customer's Spending Score based on their demographic and economic profile.</a:t>
            </a:r>
          </a:p>
          <a:p>
            <a:r>
              <a:rPr lang="en-US" sz="2400" b="1" dirty="0">
                <a:solidFill>
                  <a:schemeClr val="bg1"/>
                </a:solidFill>
              </a:rPr>
              <a:t>The model struggles with high spenders and some low spenders are mixed up(the model confuses them for medium spenders)</a:t>
            </a:r>
          </a:p>
          <a:p>
            <a:r>
              <a:rPr lang="en-US" sz="2400" b="1" dirty="0">
                <a:solidFill>
                  <a:schemeClr val="bg1"/>
                </a:solidFill>
              </a:rPr>
              <a:t> problems that could have caused this inadequacies are: the model fail to understand why customers spend differently. The dataset lacks some factors that can be strong predictive such as(behavioral features) frequency of purchase, customer loyalty points, product categories bought,(demographic factors)family size, occupation, location etc.</a:t>
            </a:r>
            <a:endParaRPr lang="en-NG" sz="2400" b="1" dirty="0">
              <a:solidFill>
                <a:schemeClr val="bg1"/>
              </a:solidFill>
            </a:endParaRPr>
          </a:p>
        </p:txBody>
      </p:sp>
    </p:spTree>
    <p:extLst>
      <p:ext uri="{BB962C8B-B14F-4D97-AF65-F5344CB8AC3E}">
        <p14:creationId xmlns:p14="http://schemas.microsoft.com/office/powerpoint/2010/main" val="6261076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B7E13-423A-43C8-A605-E263E5CFD5B2}"/>
              </a:ext>
            </a:extLst>
          </p:cNvPr>
          <p:cNvSpPr>
            <a:spLocks noGrp="1"/>
          </p:cNvSpPr>
          <p:nvPr>
            <p:ph type="title"/>
          </p:nvPr>
        </p:nvSpPr>
        <p:spPr>
          <a:xfrm>
            <a:off x="266996" y="0"/>
            <a:ext cx="7272358" cy="1088571"/>
          </a:xfrm>
        </p:spPr>
        <p:txBody>
          <a:bodyPr/>
          <a:lstStyle/>
          <a:p>
            <a:r>
              <a:rPr lang="en-GB" sz="3600" b="1" dirty="0">
                <a:highlight>
                  <a:srgbClr val="800080"/>
                </a:highlight>
              </a:rPr>
              <a:t>Spending Category Prediction</a:t>
            </a:r>
            <a:endParaRPr lang="en-NG" sz="3600" b="1" dirty="0">
              <a:highlight>
                <a:srgbClr val="800080"/>
              </a:highlight>
            </a:endParaRPr>
          </a:p>
        </p:txBody>
      </p:sp>
      <p:sp>
        <p:nvSpPr>
          <p:cNvPr id="3" name="Content Placeholder 2">
            <a:extLst>
              <a:ext uri="{FF2B5EF4-FFF2-40B4-BE49-F238E27FC236}">
                <a16:creationId xmlns:a16="http://schemas.microsoft.com/office/drawing/2014/main" id="{C5BD02AC-4981-4C4D-A7D3-344EB911CABA}"/>
              </a:ext>
            </a:extLst>
          </p:cNvPr>
          <p:cNvSpPr>
            <a:spLocks noGrp="1"/>
          </p:cNvSpPr>
          <p:nvPr>
            <p:ph idx="1"/>
          </p:nvPr>
        </p:nvSpPr>
        <p:spPr>
          <a:xfrm>
            <a:off x="266996" y="791024"/>
            <a:ext cx="7822814" cy="6066975"/>
          </a:xfrm>
        </p:spPr>
        <p:txBody>
          <a:bodyPr>
            <a:normAutofit fontScale="92500" lnSpcReduction="10000"/>
          </a:bodyPr>
          <a:lstStyle/>
          <a:p>
            <a:r>
              <a:rPr lang="en-GB" b="1" dirty="0">
                <a:solidFill>
                  <a:schemeClr val="bg1"/>
                </a:solidFill>
              </a:rPr>
              <a:t>Customers were labelled/classified as Low, Medium and High Spenders based on their Age, Gender and Income.</a:t>
            </a:r>
          </a:p>
          <a:p>
            <a:r>
              <a:rPr lang="en-GB" b="1" dirty="0">
                <a:solidFill>
                  <a:schemeClr val="bg1"/>
                </a:solidFill>
              </a:rPr>
              <a:t>This action taken helps the sales teams to recognize customer type and avoid treating all customers the same.</a:t>
            </a:r>
          </a:p>
          <a:p>
            <a:r>
              <a:rPr lang="en-GB" b="1" dirty="0">
                <a:solidFill>
                  <a:schemeClr val="bg1"/>
                </a:solidFill>
              </a:rPr>
              <a:t>The Medium Spender had the highest percentage for this prediction and we can be able to predict these categories based on Age(which did not have so much influence on the spending score),Gender(which also did not affect or influence the spending score), Annual Income(which was a strong predictive factor to influence spending score).</a:t>
            </a:r>
          </a:p>
          <a:p>
            <a:r>
              <a:rPr lang="en-GB" b="1" dirty="0">
                <a:solidFill>
                  <a:schemeClr val="bg1"/>
                </a:solidFill>
              </a:rPr>
              <a:t>It is seen that the higher the annual income, the possibility of having more high spending score.</a:t>
            </a:r>
          </a:p>
          <a:p>
            <a:r>
              <a:rPr lang="en-US" b="1" dirty="0">
                <a:solidFill>
                  <a:schemeClr val="bg1"/>
                </a:solidFill>
              </a:rPr>
              <a:t> INITIAL INSIGHTS:  Medium spenders form the largest group (balanced spending behavior)  </a:t>
            </a:r>
          </a:p>
          <a:p>
            <a:r>
              <a:rPr lang="en-US" b="1" dirty="0">
                <a:solidFill>
                  <a:schemeClr val="bg1"/>
                </a:solidFill>
              </a:rPr>
              <a:t>High spenders show varied income levels (not just high-income customers)</a:t>
            </a:r>
          </a:p>
          <a:p>
            <a:r>
              <a:rPr lang="en-US" b="1" dirty="0">
                <a:solidFill>
                  <a:schemeClr val="bg1"/>
                </a:solidFill>
              </a:rPr>
              <a:t>• Age distribution varies across spending categories</a:t>
            </a:r>
          </a:p>
          <a:p>
            <a:r>
              <a:rPr lang="en-US" b="1" dirty="0">
                <a:solidFill>
                  <a:schemeClr val="bg1"/>
                </a:solidFill>
              </a:rPr>
              <a:t>• Gender distribution is relatively balanced across categories</a:t>
            </a:r>
            <a:endParaRPr lang="en-GB" b="1" dirty="0">
              <a:solidFill>
                <a:schemeClr val="bg1"/>
              </a:solidFill>
            </a:endParaRPr>
          </a:p>
          <a:p>
            <a:pPr marL="0" indent="0">
              <a:buNone/>
            </a:pPr>
            <a:endParaRPr lang="en-GB" b="1" dirty="0">
              <a:solidFill>
                <a:schemeClr val="bg1"/>
              </a:solidFill>
            </a:endParaRPr>
          </a:p>
        </p:txBody>
      </p:sp>
    </p:spTree>
    <p:extLst>
      <p:ext uri="{BB962C8B-B14F-4D97-AF65-F5344CB8AC3E}">
        <p14:creationId xmlns:p14="http://schemas.microsoft.com/office/powerpoint/2010/main" val="455202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4710" y="-6189"/>
            <a:ext cx="7055380" cy="868082"/>
          </a:xfrm>
        </p:spPr>
        <p:txBody>
          <a:bodyPr/>
          <a:lstStyle/>
          <a:p>
            <a:r>
              <a:rPr b="1" dirty="0">
                <a:highlight>
                  <a:srgbClr val="800080"/>
                </a:highlight>
              </a:rPr>
              <a:t>Recommendations</a:t>
            </a:r>
          </a:p>
        </p:txBody>
      </p:sp>
      <p:sp>
        <p:nvSpPr>
          <p:cNvPr id="3" name="Content Placeholder 2"/>
          <p:cNvSpPr>
            <a:spLocks noGrp="1"/>
          </p:cNvSpPr>
          <p:nvPr>
            <p:ph idx="1"/>
          </p:nvPr>
        </p:nvSpPr>
        <p:spPr>
          <a:xfrm>
            <a:off x="145143" y="820058"/>
            <a:ext cx="8650514" cy="6037942"/>
          </a:xfrm>
        </p:spPr>
        <p:txBody>
          <a:bodyPr>
            <a:normAutofit/>
          </a:bodyPr>
          <a:lstStyle/>
          <a:p>
            <a:r>
              <a:rPr b="1" dirty="0">
                <a:solidFill>
                  <a:schemeClr val="bg1"/>
                </a:solidFill>
              </a:rPr>
              <a:t>• Focus marketing on Active Buyers and Loyal Wealthy Women.</a:t>
            </a:r>
          </a:p>
          <a:p>
            <a:r>
              <a:rPr b="1" dirty="0">
                <a:solidFill>
                  <a:schemeClr val="bg1"/>
                </a:solidFill>
              </a:rPr>
              <a:t>• Introduce personalized and tiered pricing strategies.</a:t>
            </a:r>
          </a:p>
          <a:p>
            <a:r>
              <a:rPr b="1" dirty="0">
                <a:solidFill>
                  <a:schemeClr val="bg1"/>
                </a:solidFill>
              </a:rPr>
              <a:t>• Build loyalty programs to retain high-value customers.</a:t>
            </a:r>
          </a:p>
          <a:p>
            <a:r>
              <a:rPr b="1" dirty="0">
                <a:solidFill>
                  <a:schemeClr val="bg1"/>
                </a:solidFill>
              </a:rPr>
              <a:t>• Offer affordable packages for Budget Shoppers and Seniors.</a:t>
            </a:r>
          </a:p>
          <a:p>
            <a:r>
              <a:rPr b="1" dirty="0">
                <a:solidFill>
                  <a:schemeClr val="bg1"/>
                </a:solidFill>
              </a:rPr>
              <a:t>• Use continuous data monitoring to adjust strategies based on behavior changes.</a:t>
            </a:r>
            <a:endParaRPr lang="en-GB" b="1" dirty="0">
              <a:solidFill>
                <a:schemeClr val="bg1"/>
              </a:solidFill>
            </a:endParaRPr>
          </a:p>
          <a:p>
            <a:r>
              <a:rPr lang="en-GB" b="1" dirty="0">
                <a:solidFill>
                  <a:schemeClr val="bg1"/>
                </a:solidFill>
              </a:rPr>
              <a:t>Since gender has minimal impact, the sales and marketing teams should avoid gender-stereotyped marketing and focus on other factors.</a:t>
            </a:r>
          </a:p>
          <a:p>
            <a:r>
              <a:rPr lang="en-GB" b="1" dirty="0">
                <a:solidFill>
                  <a:schemeClr val="bg1"/>
                </a:solidFill>
              </a:rPr>
              <a:t>From the prediction, we noticed that the organization focused more on psychological factors, it’s important for future data collection to include some demographic factors like family size, occupation, location etc or behavioural features like </a:t>
            </a:r>
            <a:r>
              <a:rPr lang="en-US" b="1" dirty="0">
                <a:solidFill>
                  <a:schemeClr val="bg1"/>
                </a:solidFill>
              </a:rPr>
              <a:t>frequency of purchase, customer loyalty points, product categories bought, etc. This help to understand the customers properly and make future prediction that can enhance the KPI of the organization.</a:t>
            </a:r>
            <a:endParaRPr b="1"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4710" y="-6189"/>
            <a:ext cx="7055380" cy="868082"/>
          </a:xfrm>
        </p:spPr>
        <p:txBody>
          <a:bodyPr/>
          <a:lstStyle/>
          <a:p>
            <a:r>
              <a:rPr lang="en-GB" b="1" dirty="0">
                <a:highlight>
                  <a:srgbClr val="800080"/>
                </a:highlight>
              </a:rPr>
              <a:t>More </a:t>
            </a:r>
            <a:r>
              <a:rPr b="1" dirty="0">
                <a:highlight>
                  <a:srgbClr val="800080"/>
                </a:highlight>
              </a:rPr>
              <a:t>Recommendations</a:t>
            </a:r>
          </a:p>
        </p:txBody>
      </p:sp>
      <p:sp>
        <p:nvSpPr>
          <p:cNvPr id="3" name="Content Placeholder 2"/>
          <p:cNvSpPr>
            <a:spLocks noGrp="1"/>
          </p:cNvSpPr>
          <p:nvPr>
            <p:ph idx="1"/>
          </p:nvPr>
        </p:nvSpPr>
        <p:spPr>
          <a:xfrm>
            <a:off x="145143" y="820058"/>
            <a:ext cx="8650514" cy="6037942"/>
          </a:xfrm>
        </p:spPr>
        <p:txBody>
          <a:bodyPr>
            <a:normAutofit/>
          </a:bodyPr>
          <a:lstStyle/>
          <a:p>
            <a:r>
              <a:rPr lang="en-GB" b="1" dirty="0">
                <a:solidFill>
                  <a:schemeClr val="bg1"/>
                </a:solidFill>
              </a:rPr>
              <a:t>Launch targeted email campaigns for each categories of spenders</a:t>
            </a:r>
          </a:p>
          <a:p>
            <a:r>
              <a:rPr lang="en-GB" b="1" dirty="0">
                <a:solidFill>
                  <a:schemeClr val="bg1"/>
                </a:solidFill>
              </a:rPr>
              <a:t>Train your staffs on how to approach customers that falls in their various classification. For example, high spender customer should be greeted warmly, shown luxury and expensive items first before suggesting on add-ons and upgrades, medium spender customer should be shown good quality items  on a fair price and suggest bundles or sets, low spenders customer should be greeted respectfully, show them value items on a great price deals and avoid pushing them with expensive items.</a:t>
            </a:r>
          </a:p>
          <a:p>
            <a:r>
              <a:rPr lang="en-GB" b="1" dirty="0">
                <a:solidFill>
                  <a:schemeClr val="bg1"/>
                </a:solidFill>
              </a:rPr>
              <a:t>Items in the store should be properly arranged to suit all the categories of spenders that comes into the mall.</a:t>
            </a:r>
          </a:p>
          <a:p>
            <a:r>
              <a:rPr lang="en-GB" b="1" dirty="0">
                <a:solidFill>
                  <a:schemeClr val="bg1"/>
                </a:solidFill>
              </a:rPr>
              <a:t>Apply the money rule which states on spending marketing money where you make your money(high spenders and medium spenders)</a:t>
            </a:r>
          </a:p>
        </p:txBody>
      </p:sp>
    </p:spTree>
    <p:extLst>
      <p:ext uri="{BB962C8B-B14F-4D97-AF65-F5344CB8AC3E}">
        <p14:creationId xmlns:p14="http://schemas.microsoft.com/office/powerpoint/2010/main" val="3597326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CCCD-AF11-4D7B-B28E-097803567A37}"/>
              </a:ext>
            </a:extLst>
          </p:cNvPr>
          <p:cNvSpPr>
            <a:spLocks noGrp="1"/>
          </p:cNvSpPr>
          <p:nvPr>
            <p:ph type="ctrTitle"/>
          </p:nvPr>
        </p:nvSpPr>
        <p:spPr>
          <a:xfrm>
            <a:off x="866442" y="1447801"/>
            <a:ext cx="6620968" cy="1478279"/>
          </a:xfrm>
        </p:spPr>
        <p:txBody>
          <a:bodyPr/>
          <a:lstStyle/>
          <a:p>
            <a:r>
              <a:rPr lang="en-GB" dirty="0"/>
              <a:t>      </a:t>
            </a:r>
            <a:r>
              <a:rPr lang="en-GB" dirty="0">
                <a:highlight>
                  <a:srgbClr val="800080"/>
                </a:highlight>
              </a:rPr>
              <a:t>Thank you </a:t>
            </a:r>
            <a:endParaRPr lang="en-NG" dirty="0">
              <a:highlight>
                <a:srgbClr val="800080"/>
              </a:highlight>
            </a:endParaRPr>
          </a:p>
        </p:txBody>
      </p:sp>
      <p:sp>
        <p:nvSpPr>
          <p:cNvPr id="3" name="Subtitle 2">
            <a:extLst>
              <a:ext uri="{FF2B5EF4-FFF2-40B4-BE49-F238E27FC236}">
                <a16:creationId xmlns:a16="http://schemas.microsoft.com/office/drawing/2014/main" id="{D7240F9D-A4A1-4596-AF8F-2566B65BD9D5}"/>
              </a:ext>
            </a:extLst>
          </p:cNvPr>
          <p:cNvSpPr>
            <a:spLocks noGrp="1"/>
          </p:cNvSpPr>
          <p:nvPr>
            <p:ph type="subTitle" idx="1"/>
          </p:nvPr>
        </p:nvSpPr>
        <p:spPr>
          <a:xfrm>
            <a:off x="3038623" y="4949370"/>
            <a:ext cx="5950632" cy="1908629"/>
          </a:xfrm>
        </p:spPr>
        <p:txBody>
          <a:bodyPr>
            <a:normAutofit lnSpcReduction="10000"/>
          </a:bodyPr>
          <a:lstStyle/>
          <a:p>
            <a:r>
              <a:rPr lang="en-GB" dirty="0"/>
              <a:t>          </a:t>
            </a:r>
            <a:r>
              <a:rPr lang="en-GB" sz="4000" b="1" dirty="0">
                <a:highlight>
                  <a:srgbClr val="FF00FF"/>
                </a:highlight>
              </a:rPr>
              <a:t>Project by EZEANOCHIE CHIDERA QUEENETH</a:t>
            </a:r>
            <a:endParaRPr lang="en-NG" sz="4000" b="1" dirty="0">
              <a:highlight>
                <a:srgbClr val="FF00FF"/>
              </a:highlight>
            </a:endParaRPr>
          </a:p>
        </p:txBody>
      </p:sp>
    </p:spTree>
    <p:extLst>
      <p:ext uri="{BB962C8B-B14F-4D97-AF65-F5344CB8AC3E}">
        <p14:creationId xmlns:p14="http://schemas.microsoft.com/office/powerpoint/2010/main" val="7988486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Cambria-Calibri">
      <a:majorFont>
        <a:latin typeface="Cambria" panose="02040503050406030204"/>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806</TotalTime>
  <Words>754</Words>
  <Application>Microsoft Office PowerPoint</Application>
  <PresentationFormat>On-screen Show (4:3)</PresentationFormat>
  <Paragraphs>56</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Cambria</vt:lpstr>
      <vt:lpstr>Wingdings 3</vt:lpstr>
      <vt:lpstr>Ion</vt:lpstr>
      <vt:lpstr>Machine Learning for Business Insights</vt:lpstr>
      <vt:lpstr>Customer Segmentation Insights and prediction</vt:lpstr>
      <vt:lpstr>Overview of Analysis</vt:lpstr>
      <vt:lpstr>Customer Segments Overview</vt:lpstr>
      <vt:lpstr>Cluster Insights Summary</vt:lpstr>
      <vt:lpstr>Feature Relationships</vt:lpstr>
      <vt:lpstr>Predicting Spending Score Overview</vt:lpstr>
      <vt:lpstr>Spending Category Prediction</vt:lpstr>
      <vt:lpstr>Recommendations</vt:lpstr>
      <vt:lpstr>More Recommendations</vt:lpstr>
      <vt:lpstr>      Thank you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Segmentation Insights</dc:title>
  <dc:subject/>
  <dc:creator>User</dc:creator>
  <cp:keywords/>
  <dc:description>generated using python-pptx</dc:description>
  <cp:lastModifiedBy>queenethchidera04@gmail.com</cp:lastModifiedBy>
  <cp:revision>22</cp:revision>
  <dcterms:created xsi:type="dcterms:W3CDTF">2013-01-27T09:14:16Z</dcterms:created>
  <dcterms:modified xsi:type="dcterms:W3CDTF">2025-12-04T18:49:05Z</dcterms:modified>
  <cp:category/>
</cp:coreProperties>
</file>